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Avanço acumulado</c:v>
                </c:pt>
              </c:strCache>
            </c:strRef>
          </c:tx>
          <c:spPr>
            <a:solidFill>
              <a:srgbClr val="E0913F">
                <a:alpha val="3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Sheet1!$A$2:$A$32</c:f>
              <c:multiLvlStrCache>
                <c:ptCount val="3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37.25</c:v>
                </c:pt>
                <c:pt idx="1">
                  <c:v>37.25</c:v>
                </c:pt>
                <c:pt idx="2">
                  <c:v>38.13</c:v>
                </c:pt>
                <c:pt idx="3">
                  <c:v>38.65</c:v>
                </c:pt>
                <c:pt idx="4">
                  <c:v>38.67</c:v>
                </c:pt>
                <c:pt idx="5">
                  <c:v>38.67</c:v>
                </c:pt>
                <c:pt idx="6">
                  <c:v>38.67</c:v>
                </c:pt>
                <c:pt idx="7">
                  <c:v>38.67</c:v>
                </c:pt>
                <c:pt idx="8">
                  <c:v>38.67</c:v>
                </c:pt>
                <c:pt idx="9">
                  <c:v>38.87</c:v>
                </c:pt>
                <c:pt idx="10">
                  <c:v>39.6</c:v>
                </c:pt>
                <c:pt idx="11">
                  <c:v>40.06</c:v>
                </c:pt>
                <c:pt idx="12">
                  <c:v>40.53</c:v>
                </c:pt>
                <c:pt idx="13">
                  <c:v>40.91</c:v>
                </c:pt>
                <c:pt idx="14">
                  <c:v>40.92</c:v>
                </c:pt>
                <c:pt idx="15">
                  <c:v>40.92</c:v>
                </c:pt>
                <c:pt idx="16">
                  <c:v>41.97</c:v>
                </c:pt>
                <c:pt idx="17">
                  <c:v>42.31</c:v>
                </c:pt>
                <c:pt idx="18">
                  <c:v>42.86</c:v>
                </c:pt>
                <c:pt idx="19">
                  <c:v>43.72</c:v>
                </c:pt>
                <c:pt idx="20">
                  <c:v>44.46</c:v>
                </c:pt>
                <c:pt idx="21">
                  <c:v>44.58</c:v>
                </c:pt>
                <c:pt idx="22">
                  <c:v>44.58</c:v>
                </c:pt>
                <c:pt idx="23">
                  <c:v>45.67</c:v>
                </c:pt>
                <c:pt idx="24">
                  <c:v>46.02</c:v>
                </c:pt>
                <c:pt idx="25">
                  <c:v>46.4</c:v>
                </c:pt>
                <c:pt idx="26">
                  <c:v>46.86</c:v>
                </c:pt>
                <c:pt idx="27">
                  <c:v>47.08</c:v>
                </c:pt>
                <c:pt idx="28">
                  <c:v>47.17</c:v>
                </c:pt>
                <c:pt idx="29">
                  <c:v>47.17</c:v>
                </c:pt>
                <c:pt idx="30">
                  <c:v>47.17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9"/>
          <c:min val="3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Avanço (%)</c:v>
                </c:pt>
              </c:strCache>
            </c:strRef>
          </c:tx>
          <c:spPr>
            <a:solidFill>
              <a:srgbClr val="D2682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F0EAE0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Via</c:v>
                  </c:pt>
                  <c:pt idx="1">
                    <c:v>Vala Técnica</c:v>
                  </c:pt>
                  <c:pt idx="2">
                    <c:v>Demolição</c:v>
                  </c:pt>
                  <c:pt idx="3">
                    <c:v>Pav. Flexível</c:v>
                  </c:pt>
                  <c:pt idx="4">
                    <c:v>Drenagem</c:v>
                  </c:pt>
                  <c:pt idx="5">
                    <c:v>Desapropriações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25.8</c:v>
                </c:pt>
                <c:pt idx="1">
                  <c:v>31.8</c:v>
                </c:pt>
                <c:pt idx="2">
                  <c:v>36.4</c:v>
                </c:pt>
                <c:pt idx="3">
                  <c:v>38.3</c:v>
                </c:pt>
                <c:pt idx="4">
                  <c:v>85.4</c:v>
                </c:pt>
                <c:pt idx="5">
                  <c:v>90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F0EAE0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4A423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8E2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image" Target="../media/image-3-4.png"/><Relationship Id="rId7" Type="http://schemas.openxmlformats.org/officeDocument/2006/relationships/image" Target="../media/image-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-e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TEOTÔNIO VILELA</a:t>
            </a:r>
            <a:pPr indent="0" marL="0">
              <a:buNone/>
            </a:pPr>
            <a:r>
              <a:rPr lang="en-US" sz="1050" b="1" spc="30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PAINEL EXECUTIVO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9646920" y="237744"/>
            <a:ext cx="2057400" cy="365760"/>
          </a:xfrm>
          <a:prstGeom prst="ROUNDED_RECTANGLE">
            <a:avLst>
              <a:gd name="adj" fmla="val 22500"/>
            </a:avLst>
          </a:prstGeom>
          <a:solidFill>
            <a:srgbClr val="3A2A1E"/>
          </a:solidFill>
          <a:ln w="9525">
            <a:solidFill>
              <a:srgbClr val="6B4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9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GERAL · 03/08/2026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AVANÇO PONDERADO · ESCOPO EM DIAS-EQUIVALENTES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4297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-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46,3</a:t>
            </a:r>
            <a:pPr indent="0" marL="0">
              <a:buNone/>
            </a:pPr>
            <a:r>
              <a:rPr lang="en-US" sz="3400" b="1" spc="-100" kern="0" dirty="0">
                <a:solidFill>
                  <a:srgbClr val="E09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</a:t>
            </a:r>
            <a:endParaRPr lang="en-US" sz="8800" dirty="0"/>
          </a:p>
        </p:txBody>
      </p:sp>
      <p:sp>
        <p:nvSpPr>
          <p:cNvPr id="7" name="Shape 4"/>
          <p:cNvSpPr/>
          <p:nvPr/>
        </p:nvSpPr>
        <p:spPr>
          <a:xfrm>
            <a:off x="4983480" y="1371600"/>
            <a:ext cx="0" cy="1234440"/>
          </a:xfrm>
          <a:prstGeom prst="line">
            <a:avLst/>
          </a:prstGeom>
          <a:noFill/>
          <a:ln w="12700">
            <a:solidFill>
              <a:srgbClr val="4A42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AVANÇO GANHO NO PERÍODO</a:t>
            </a:r>
            <a:endParaRPr lang="en-US" sz="900" dirty="0"/>
          </a:p>
        </p:txBody>
      </p:sp>
      <p:pic>
        <p:nvPicPr>
          <p:cNvPr id="9" name="Image 1" descr="ic-trend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67335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59552" y="16276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9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+1,50 p.p.</a:t>
            </a:r>
            <a:pPr indent="0" marL="0">
              <a:buNone/>
            </a:pPr>
            <a:r>
              <a:rPr lang="en-US" sz="1050" dirty="0">
                <a:solidFill>
                  <a:srgbClr val="B8A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últimos 7 dias</a:t>
            </a:r>
            <a:endParaRPr lang="en-US" sz="1500" dirty="0"/>
          </a:p>
        </p:txBody>
      </p:sp>
      <p:pic>
        <p:nvPicPr>
          <p:cNvPr id="11" name="Image 2" descr="ic-trend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18541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59552" y="21396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9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+9,92 p.p.</a:t>
            </a:r>
            <a:pPr indent="0" marL="0">
              <a:buNone/>
            </a:pPr>
            <a:r>
              <a:rPr lang="en-US" sz="1050" dirty="0">
                <a:solidFill>
                  <a:srgbClr val="B8A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últimos 30 dias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502920" y="29077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0,37</a:t>
            </a:r>
            <a:pPr indent="0" marL="0">
              <a:buNone/>
            </a:pPr>
            <a:r>
              <a:rPr lang="en-US" sz="12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p.p./dia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502920" y="33101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 · MÉDIA 14 DIAS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2834640" y="29077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</a:t>
            </a:r>
            <a:pPr indent="0" marL="0">
              <a:buNone/>
            </a:pPr>
            <a:r>
              <a:rPr lang="en-US" sz="12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RDOs</a:t>
            </a:r>
            <a:endParaRPr lang="en-US" sz="2300" dirty="0"/>
          </a:p>
        </p:txBody>
      </p:sp>
      <p:sp>
        <p:nvSpPr>
          <p:cNvPr id="16" name="Text 11"/>
          <p:cNvSpPr/>
          <p:nvPr/>
        </p:nvSpPr>
        <p:spPr>
          <a:xfrm>
            <a:off x="2834640" y="33101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REGISTRADOS NOS ÚLTIMOS 7 DIAS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502920" y="378561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AVANÇO ACUMULADO · ÚLTIMOS 30 DIAS</a:t>
            </a:r>
            <a:pPr indent="0" marL="0">
              <a:buNone/>
            </a:pPr>
            <a:r>
              <a:rPr lang="en-US" sz="950" b="1" spc="50" kern="0" dirty="0">
                <a:solidFill>
                  <a:srgbClr val="7FD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de 37,3% para 47,2%</a:t>
            </a:r>
            <a:endParaRPr lang="en-US" sz="9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4069080"/>
          <a:ext cx="7452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Shape 13"/>
          <p:cNvSpPr/>
          <p:nvPr/>
        </p:nvSpPr>
        <p:spPr>
          <a:xfrm>
            <a:off x="8138160" y="960120"/>
            <a:ext cx="0" cy="5394960"/>
          </a:xfrm>
          <a:prstGeom prst="line">
            <a:avLst/>
          </a:prstGeom>
          <a:noFill/>
          <a:ln w="12700">
            <a:solidFill>
              <a:srgbClr val="3A342B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36676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6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000" b="1" spc="25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DA SEMANA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8366760" y="1261872"/>
            <a:ext cx="331927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Nesta semana a obra avançou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7FD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+1,50 p.p.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Pav. Flexível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liderando o ritmo. Foram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RDOs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7 dias, com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 8 frentes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produção simultânea.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30 dias o acumulado ganhou 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7FD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+9,92 p.p.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 melhor ritmo mensal do período — e o apontamento segue em dia, com o último lançamento em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01/08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366760" y="4069080"/>
            <a:ext cx="3319272" cy="2286000"/>
          </a:xfrm>
          <a:prstGeom prst="roundRect">
            <a:avLst>
              <a:gd name="adj" fmla="val 4000"/>
            </a:avLst>
          </a:prstGeom>
          <a:solidFill>
            <a:srgbClr val="2A2018"/>
          </a:solidFill>
          <a:ln w="12700">
            <a:solidFill>
              <a:srgbClr val="4A3526"/>
            </a:solidFill>
            <a:prstDash val="solid"/>
          </a:ln>
        </p:spPr>
      </p:sp>
      <p:pic>
        <p:nvPicPr>
          <p:cNvPr id="23" name="Image 3" descr="ic-zap-ac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4315968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942832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EXECUTIVA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8595360" y="4645152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Ritmo atual de 0,37 p.p./dia consolida o melhor mês do período. Manter pavimentação e vala técnica em produção contínua sustenta a curva de aceleração.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da Semana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do Painel Executivo · indicadores positivos · 03/08/2026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321040" y="4114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TEOTÔNIO VILELA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pic>
        <p:nvPicPr>
          <p:cNvPr id="6" name="Image 0" descr="ic-layers-a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6550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664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PACOTES EM EXECUÇÃO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40664" y="196596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A1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pPr indent="0" marL="0">
              <a:buNone/>
            </a:pPr>
            <a:r>
              <a:rPr lang="en-US" sz="1500" b="1" spc="-50" kern="0" dirty="0">
                <a:solidFill>
                  <a:srgbClr val="7A7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 37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40664" y="264261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pacotes concluídos · frente de trabalho ampla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79976" y="141732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pic>
        <p:nvPicPr>
          <p:cNvPr id="11" name="Image 1" descr="ic-clipboard-a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550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01768" y="1664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RDOS REGISTRADOS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617720" y="196596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A1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876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4617720" y="264261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nos últimos 7 dias · 263 em 30 dias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257032" y="141732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pic>
        <p:nvPicPr>
          <p:cNvPr id="16" name="Image 2" descr="ic-trend-ac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165506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78824" y="1664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AVANÇO EM 30 DIAS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8494776" y="196596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3D8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+9,92</a:t>
            </a:r>
            <a:pPr indent="0" marL="0">
              <a:buNone/>
            </a:pPr>
            <a:r>
              <a:rPr lang="en-US" sz="1500" b="1" spc="-50" kern="0" dirty="0">
                <a:solidFill>
                  <a:srgbClr val="7A7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p.p.</a:t>
            </a:r>
            <a:endParaRPr lang="en-US" sz="3800" dirty="0"/>
          </a:p>
        </p:txBody>
      </p:sp>
      <p:sp>
        <p:nvSpPr>
          <p:cNvPr id="19" name="Text 14"/>
          <p:cNvSpPr/>
          <p:nvPr/>
        </p:nvSpPr>
        <p:spPr>
          <a:xfrm>
            <a:off x="8494776" y="264261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aceleração consistente do ritmo mensal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02920" y="320040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pic>
        <p:nvPicPr>
          <p:cNvPr id="21" name="Image 3" descr="ic-activity-ac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43814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24712" y="34472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FRENTES ATIVAS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40664" y="374904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A1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500" b="1" spc="-50" kern="0" dirty="0">
                <a:solidFill>
                  <a:srgbClr val="7A7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 8</a:t>
            </a:r>
            <a:endParaRPr lang="en-US" sz="3800" dirty="0"/>
          </a:p>
        </p:txBody>
      </p:sp>
      <p:sp>
        <p:nvSpPr>
          <p:cNvPr id="24" name="Text 18"/>
          <p:cNvSpPr/>
          <p:nvPr/>
        </p:nvSpPr>
        <p:spPr>
          <a:xfrm>
            <a:off x="740664" y="44256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lançamentos nos últimos 7 dias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79976" y="320040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pic>
        <p:nvPicPr>
          <p:cNvPr id="26" name="Image 4" descr="ic-zap-ac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43814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01768" y="34472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4617720" y="374904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A1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0,37</a:t>
            </a:r>
            <a:pPr indent="0" marL="0">
              <a:buNone/>
            </a:pPr>
            <a:r>
              <a:rPr lang="en-US" sz="1500" b="1" spc="-50" kern="0" dirty="0">
                <a:solidFill>
                  <a:srgbClr val="7A7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p.p./dia</a:t>
            </a:r>
            <a:endParaRPr lang="en-US" sz="3800" dirty="0"/>
          </a:p>
        </p:txBody>
      </p:sp>
      <p:sp>
        <p:nvSpPr>
          <p:cNvPr id="29" name="Text 22"/>
          <p:cNvSpPr/>
          <p:nvPr/>
        </p:nvSpPr>
        <p:spPr>
          <a:xfrm>
            <a:off x="4617720" y="44256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móvel de 14 dias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257032" y="320040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pic>
        <p:nvPicPr>
          <p:cNvPr id="31" name="Image 5" descr="ic-calendar-ac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3438144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78824" y="34472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LANÇAMENTO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8494776" y="374904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A1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01/08</a:t>
            </a:r>
            <a:endParaRPr lang="en-US" sz="3800" dirty="0"/>
          </a:p>
        </p:txBody>
      </p:sp>
      <p:sp>
        <p:nvSpPr>
          <p:cNvPr id="34" name="Text 26"/>
          <p:cNvSpPr/>
          <p:nvPr/>
        </p:nvSpPr>
        <p:spPr>
          <a:xfrm>
            <a:off x="8494776" y="44256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apontamento em dia · há 2 dias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02920" y="5074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FRENTES QUE MAIS AVANÇARAM · ÚLTIMOS 7 DIAS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502920" y="544068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722376" y="5724144"/>
            <a:ext cx="347472" cy="347472"/>
          </a:xfrm>
          <a:prstGeom prst="ellipse">
            <a:avLst/>
          </a:prstGeom>
          <a:solidFill>
            <a:srgbClr val="D2682F"/>
          </a:solidFill>
          <a:ln/>
        </p:spPr>
      </p:sp>
      <p:sp>
        <p:nvSpPr>
          <p:cNvPr id="38" name="Text 30"/>
          <p:cNvSpPr/>
          <p:nvPr/>
        </p:nvSpPr>
        <p:spPr>
          <a:xfrm>
            <a:off x="722376" y="5724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1216152" y="56235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Pav. Flexível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1216152" y="5916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atividade 31/07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2697480" y="57241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8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+1,41 p.p.</a:t>
            </a:r>
            <a:endParaRPr lang="en-US" sz="1400" dirty="0"/>
          </a:p>
        </p:txBody>
      </p:sp>
      <p:sp>
        <p:nvSpPr>
          <p:cNvPr id="42" name="Shape 34"/>
          <p:cNvSpPr/>
          <p:nvPr/>
        </p:nvSpPr>
        <p:spPr>
          <a:xfrm>
            <a:off x="4379976" y="544068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599432" y="5724144"/>
            <a:ext cx="347472" cy="347472"/>
          </a:xfrm>
          <a:prstGeom prst="ellipse">
            <a:avLst/>
          </a:prstGeom>
          <a:solidFill>
            <a:srgbClr val="D2682F"/>
          </a:solidFill>
          <a:ln/>
        </p:spPr>
      </p:sp>
      <p:sp>
        <p:nvSpPr>
          <p:cNvPr id="44" name="Text 36"/>
          <p:cNvSpPr/>
          <p:nvPr/>
        </p:nvSpPr>
        <p:spPr>
          <a:xfrm>
            <a:off x="4599432" y="5724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5093208" y="56235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</a:t>
            </a:r>
            <a:endParaRPr lang="en-US" sz="1300" dirty="0"/>
          </a:p>
        </p:txBody>
      </p:sp>
      <p:sp>
        <p:nvSpPr>
          <p:cNvPr id="46" name="Text 38"/>
          <p:cNvSpPr/>
          <p:nvPr/>
        </p:nvSpPr>
        <p:spPr>
          <a:xfrm>
            <a:off x="5093208" y="5916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atividade 01/08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6574536" y="57241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8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+0,59 p.p.</a:t>
            </a:r>
            <a:endParaRPr lang="en-US" sz="1400" dirty="0"/>
          </a:p>
        </p:txBody>
      </p:sp>
      <p:sp>
        <p:nvSpPr>
          <p:cNvPr id="48" name="Shape 40"/>
          <p:cNvSpPr/>
          <p:nvPr/>
        </p:nvSpPr>
        <p:spPr>
          <a:xfrm>
            <a:off x="8257032" y="544068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8476488" y="5724144"/>
            <a:ext cx="347472" cy="347472"/>
          </a:xfrm>
          <a:prstGeom prst="ellipse">
            <a:avLst/>
          </a:prstGeom>
          <a:solidFill>
            <a:srgbClr val="D2682F"/>
          </a:solidFill>
          <a:ln/>
        </p:spPr>
      </p:sp>
      <p:sp>
        <p:nvSpPr>
          <p:cNvPr id="50" name="Text 42"/>
          <p:cNvSpPr/>
          <p:nvPr/>
        </p:nvSpPr>
        <p:spPr>
          <a:xfrm>
            <a:off x="8476488" y="5724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Text 43"/>
          <p:cNvSpPr/>
          <p:nvPr/>
        </p:nvSpPr>
        <p:spPr>
          <a:xfrm>
            <a:off x="8970264" y="56235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Demolição</a:t>
            </a:r>
            <a:endParaRPr lang="en-US" sz="1300" dirty="0"/>
          </a:p>
        </p:txBody>
      </p:sp>
      <p:sp>
        <p:nvSpPr>
          <p:cNvPr id="52" name="Text 44"/>
          <p:cNvSpPr/>
          <p:nvPr/>
        </p:nvSpPr>
        <p:spPr>
          <a:xfrm>
            <a:off x="8970264" y="5916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atividade 30/07</a:t>
            </a:r>
            <a:endParaRPr lang="en-US" sz="950" dirty="0"/>
          </a:p>
        </p:txBody>
      </p:sp>
      <p:sp>
        <p:nvSpPr>
          <p:cNvPr id="53" name="Text 45"/>
          <p:cNvSpPr/>
          <p:nvPr/>
        </p:nvSpPr>
        <p:spPr>
          <a:xfrm>
            <a:off x="10451592" y="57241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8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+0,47 p.p.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-e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Avanço Físico por Frente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8595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Frentes em evolução · avanço ponderado em dias-equivalentes · 03/08/2026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778240" y="411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EXECUTIVO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417320"/>
          <a:ext cx="704088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7818120" y="1417320"/>
            <a:ext cx="3886200" cy="4709160"/>
          </a:xfrm>
          <a:prstGeom prst="roundRect">
            <a:avLst>
              <a:gd name="adj" fmla="val 2353"/>
            </a:avLst>
          </a:prstGeom>
          <a:solidFill>
            <a:srgbClr val="211D17"/>
          </a:solidFill>
          <a:ln w="12700">
            <a:solidFill>
              <a:srgbClr val="383026"/>
            </a:solidFill>
            <a:prstDash val="solid"/>
          </a:ln>
        </p:spPr>
      </p:sp>
      <p:pic>
        <p:nvPicPr>
          <p:cNvPr id="8" name="Image 1" descr="ic-aw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1655064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21624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PACOTES NO TOPO</a:t>
            </a:r>
            <a:endParaRPr lang="en-US" sz="1000" dirty="0"/>
          </a:p>
        </p:txBody>
      </p:sp>
      <p:pic>
        <p:nvPicPr>
          <p:cNvPr id="10" name="Image 2" descr="ic-check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2258568"/>
            <a:ext cx="219456" cy="2194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385048" y="2157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Piso podotátil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8385048" y="24323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0652760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FD9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8055864" y="2738628"/>
            <a:ext cx="3410712" cy="0"/>
          </a:xfrm>
          <a:prstGeom prst="line">
            <a:avLst/>
          </a:prstGeom>
          <a:noFill/>
          <a:ln w="9525">
            <a:solidFill>
              <a:srgbClr val="2E2820"/>
            </a:solidFill>
            <a:prstDash val="solid"/>
          </a:ln>
        </p:spPr>
      </p:sp>
      <p:pic>
        <p:nvPicPr>
          <p:cNvPr id="15" name="Image 3" descr="ic-check-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5864" y="2907792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85048" y="2807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Rachão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8385048" y="3081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Pav. Flexível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0652760" y="287121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FD9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8055864" y="3387852"/>
            <a:ext cx="3410712" cy="0"/>
          </a:xfrm>
          <a:prstGeom prst="line">
            <a:avLst/>
          </a:prstGeom>
          <a:noFill/>
          <a:ln w="9525">
            <a:solidFill>
              <a:srgbClr val="2E2820"/>
            </a:solidFill>
            <a:prstDash val="solid"/>
          </a:ln>
        </p:spPr>
      </p:sp>
      <p:pic>
        <p:nvPicPr>
          <p:cNvPr id="20" name="Image 4" descr="ic-check-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5864" y="3557016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385048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Galeria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8385048" y="3730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Drenagem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0652760" y="352044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FD9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8055864" y="4037076"/>
            <a:ext cx="3410712" cy="0"/>
          </a:xfrm>
          <a:prstGeom prst="line">
            <a:avLst/>
          </a:prstGeom>
          <a:noFill/>
          <a:ln w="9525">
            <a:solidFill>
              <a:srgbClr val="2E2820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8385048" y="4105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Tubo Ø1000mm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8385048" y="43799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Drenagem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0652760" y="416966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0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99,7%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8055864" y="4686300"/>
            <a:ext cx="3410712" cy="0"/>
          </a:xfrm>
          <a:prstGeom prst="line">
            <a:avLst/>
          </a:prstGeom>
          <a:noFill/>
          <a:ln w="9525">
            <a:solidFill>
              <a:srgbClr val="2E2820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8385048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Reconstrução de muros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8385048" y="50292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Desapropriações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0652760" y="481888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0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91,8%</a:t>
            </a:r>
            <a:endParaRPr lang="en-US" sz="1350" dirty="0"/>
          </a:p>
        </p:txBody>
      </p:sp>
      <p:sp>
        <p:nvSpPr>
          <p:cNvPr id="32" name="Shape 24"/>
          <p:cNvSpPr/>
          <p:nvPr/>
        </p:nvSpPr>
        <p:spPr>
          <a:xfrm>
            <a:off x="8055864" y="5335524"/>
            <a:ext cx="3410712" cy="0"/>
          </a:xfrm>
          <a:prstGeom prst="line">
            <a:avLst/>
          </a:prstGeom>
          <a:noFill/>
          <a:ln w="9525">
            <a:solidFill>
              <a:srgbClr val="2E2820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8385048" y="5404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Tubo Ø600mm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8385048" y="56784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Drenagem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652760" y="546811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0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82,8%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Sistema Teotônio Vilela · Painel Executivo · resumo com indicadores positivos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2026-08-03T13:35:49Z</dcterms:created>
  <dcterms:modified xsi:type="dcterms:W3CDTF">2026-08-03T13:35:49Z</dcterms:modified>
</cp:coreProperties>
</file>