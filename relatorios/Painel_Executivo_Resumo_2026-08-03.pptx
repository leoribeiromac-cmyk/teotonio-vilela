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Avanço acumulado</c:v>
                </c:pt>
              </c:strCache>
            </c:strRef>
          </c:tx>
          <c:spPr>
            <a:solidFill>
              <a:srgbClr val="E0913F">
                <a:alpha val="30000"/>
              </a:srgbClr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Sheet1!$A$2:$A$32</c:f>
              <c:multiLvlStrCache>
                <c:ptCount val="31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</c:lvl>
              </c:multiLvlStrCache>
            </c:multiLvl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37.25</c:v>
                </c:pt>
                <c:pt idx="1">
                  <c:v>37.25</c:v>
                </c:pt>
                <c:pt idx="2">
                  <c:v>38.13</c:v>
                </c:pt>
                <c:pt idx="3">
                  <c:v>38.65</c:v>
                </c:pt>
                <c:pt idx="4">
                  <c:v>38.67</c:v>
                </c:pt>
                <c:pt idx="5">
                  <c:v>38.67</c:v>
                </c:pt>
                <c:pt idx="6">
                  <c:v>38.67</c:v>
                </c:pt>
                <c:pt idx="7">
                  <c:v>38.67</c:v>
                </c:pt>
                <c:pt idx="8">
                  <c:v>38.67</c:v>
                </c:pt>
                <c:pt idx="9">
                  <c:v>38.87</c:v>
                </c:pt>
                <c:pt idx="10">
                  <c:v>39.6</c:v>
                </c:pt>
                <c:pt idx="11">
                  <c:v>40.06</c:v>
                </c:pt>
                <c:pt idx="12">
                  <c:v>40.53</c:v>
                </c:pt>
                <c:pt idx="13">
                  <c:v>40.91</c:v>
                </c:pt>
                <c:pt idx="14">
                  <c:v>40.92</c:v>
                </c:pt>
                <c:pt idx="15">
                  <c:v>40.92</c:v>
                </c:pt>
                <c:pt idx="16">
                  <c:v>41.97</c:v>
                </c:pt>
                <c:pt idx="17">
                  <c:v>42.31</c:v>
                </c:pt>
                <c:pt idx="18">
                  <c:v>42.86</c:v>
                </c:pt>
                <c:pt idx="19">
                  <c:v>43.72</c:v>
                </c:pt>
                <c:pt idx="20">
                  <c:v>44.46</c:v>
                </c:pt>
                <c:pt idx="21">
                  <c:v>44.58</c:v>
                </c:pt>
                <c:pt idx="22">
                  <c:v>44.58</c:v>
                </c:pt>
                <c:pt idx="23">
                  <c:v>45.67</c:v>
                </c:pt>
                <c:pt idx="24">
                  <c:v>46.02</c:v>
                </c:pt>
                <c:pt idx="25">
                  <c:v>46.4</c:v>
                </c:pt>
                <c:pt idx="26">
                  <c:v>46.86</c:v>
                </c:pt>
                <c:pt idx="27">
                  <c:v>47.08</c:v>
                </c:pt>
                <c:pt idx="28">
                  <c:v>47.17</c:v>
                </c:pt>
                <c:pt idx="29">
                  <c:v>47.17</c:v>
                </c:pt>
                <c:pt idx="30">
                  <c:v>47.17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9"/>
          <c:min val="3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Avanço (%)</c:v>
                </c:pt>
              </c:strCache>
            </c:strRef>
          </c:tx>
          <c:spPr>
            <a:solidFill>
              <a:srgbClr val="D2682F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F0EAE0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Via</c:v>
                  </c:pt>
                  <c:pt idx="1">
                    <c:v>Vala Técnica</c:v>
                  </c:pt>
                  <c:pt idx="2">
                    <c:v>Demolição</c:v>
                  </c:pt>
                  <c:pt idx="3">
                    <c:v>Pav. Flexível</c:v>
                  </c:pt>
                  <c:pt idx="4">
                    <c:v>Drenagem</c:v>
                  </c:pt>
                  <c:pt idx="5">
                    <c:v>Desapropriações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25.8</c:v>
                </c:pt>
                <c:pt idx="1">
                  <c:v>31.8</c:v>
                </c:pt>
                <c:pt idx="2">
                  <c:v>36.4</c:v>
                </c:pt>
                <c:pt idx="3">
                  <c:v>38.3</c:v>
                </c:pt>
                <c:pt idx="4">
                  <c:v>85.4</c:v>
                </c:pt>
                <c:pt idx="5">
                  <c:v>90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050" u="none">
                  <a:solidFill>
                    <a:srgbClr val="F0EAE0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4A423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E8E2D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3.png"/><Relationship Id="rId6" Type="http://schemas.openxmlformats.org/officeDocument/2006/relationships/image" Target="../media/image-1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2.xml"/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4" Type="http://schemas.openxmlformats.org/officeDocument/2006/relationships/image" Target="../media/image-3-3.png"/><Relationship Id="rId5" Type="http://schemas.openxmlformats.org/officeDocument/2006/relationships/image" Target="../media/image-3-4.png"/><Relationship Id="rId6" Type="http://schemas.openxmlformats.org/officeDocument/2006/relationships/image" Target="../media/image-3-4.png"/><Relationship Id="rId7" Type="http://schemas.openxmlformats.org/officeDocument/2006/relationships/image" Target="../media/image-3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op-e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411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29260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TEOTÔNIO VILELA</a:t>
            </a:r>
            <a:pPr indent="0" marL="0">
              <a:buNone/>
            </a:pPr>
            <a:r>
              <a:rPr lang="en-US" sz="1050" b="1" spc="300" kern="0" dirty="0">
                <a:solidFill>
                  <a:srgbClr val="A89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PAINEL EXECUTIVO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9646920" y="237744"/>
            <a:ext cx="2057400" cy="365760"/>
          </a:xfrm>
          <a:prstGeom prst="ROUNDED_RECTANGLE">
            <a:avLst>
              <a:gd name="adj" fmla="val 22500"/>
            </a:avLst>
          </a:prstGeom>
          <a:solidFill>
            <a:srgbClr val="3A2A1E"/>
          </a:solidFill>
          <a:ln w="9525">
            <a:solidFill>
              <a:srgbClr val="6B4A2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091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GERAL · 03/08/2026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02920" y="9144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A89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AVANÇO PONDERADO · ESCOPO EM DIAS-EQUIVALENTES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1170432"/>
            <a:ext cx="4297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spc="-1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46,3</a:t>
            </a:r>
            <a:pPr indent="0" marL="0">
              <a:buNone/>
            </a:pPr>
            <a:r>
              <a:rPr lang="en-US" sz="3400" b="1" spc="-100" kern="0" dirty="0">
                <a:solidFill>
                  <a:srgbClr val="E091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%</a:t>
            </a:r>
            <a:endParaRPr lang="en-US" sz="8800" dirty="0"/>
          </a:p>
        </p:txBody>
      </p:sp>
      <p:sp>
        <p:nvSpPr>
          <p:cNvPr id="7" name="Shape 4"/>
          <p:cNvSpPr/>
          <p:nvPr/>
        </p:nvSpPr>
        <p:spPr>
          <a:xfrm>
            <a:off x="4983480" y="1371600"/>
            <a:ext cx="0" cy="1234440"/>
          </a:xfrm>
          <a:prstGeom prst="line">
            <a:avLst/>
          </a:prstGeom>
          <a:noFill/>
          <a:ln w="12700">
            <a:solidFill>
              <a:srgbClr val="4A423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257800" y="12984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9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AVANÇO GANHO NO PERÍODO</a:t>
            </a:r>
            <a:endParaRPr lang="en-US" sz="900" dirty="0"/>
          </a:p>
        </p:txBody>
      </p:sp>
      <p:pic>
        <p:nvPicPr>
          <p:cNvPr id="9" name="Image 1" descr="ic-trend-gre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167335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559552" y="162763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D9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+1,50 p.p.</a:t>
            </a:r>
            <a:pPr indent="0" marL="0">
              <a:buNone/>
            </a:pPr>
            <a:r>
              <a:rPr lang="en-US" sz="1050" dirty="0">
                <a:solidFill>
                  <a:srgbClr val="B8A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últimos 7 dias</a:t>
            </a:r>
            <a:endParaRPr lang="en-US" sz="1500" dirty="0"/>
          </a:p>
        </p:txBody>
      </p:sp>
      <p:pic>
        <p:nvPicPr>
          <p:cNvPr id="11" name="Image 2" descr="ic-trend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2185416"/>
            <a:ext cx="219456" cy="2194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559552" y="213969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D9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+9,92 p.p.</a:t>
            </a:r>
            <a:pPr indent="0" marL="0">
              <a:buNone/>
            </a:pPr>
            <a:r>
              <a:rPr lang="en-US" sz="1050" dirty="0">
                <a:solidFill>
                  <a:srgbClr val="B8A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últimos 30 dias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502920" y="290779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0,37</a:t>
            </a:r>
            <a:pPr indent="0" marL="0">
              <a:buNone/>
            </a:pPr>
            <a:r>
              <a:rPr lang="en-US" sz="1200" dirty="0">
                <a:solidFill>
                  <a:srgbClr val="A89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p.p./dia</a:t>
            </a:r>
            <a:endParaRPr lang="en-US" sz="2300" dirty="0"/>
          </a:p>
        </p:txBody>
      </p:sp>
      <p:sp>
        <p:nvSpPr>
          <p:cNvPr id="14" name="Text 9"/>
          <p:cNvSpPr/>
          <p:nvPr/>
        </p:nvSpPr>
        <p:spPr>
          <a:xfrm>
            <a:off x="502920" y="331012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A89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VELOCIDADE · MÉDIA 14 DIAS</a:t>
            </a:r>
            <a:endParaRPr lang="en-US" sz="850" dirty="0"/>
          </a:p>
        </p:txBody>
      </p:sp>
      <p:sp>
        <p:nvSpPr>
          <p:cNvPr id="15" name="Text 10"/>
          <p:cNvSpPr/>
          <p:nvPr/>
        </p:nvSpPr>
        <p:spPr>
          <a:xfrm>
            <a:off x="2834640" y="290779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</a:t>
            </a:r>
            <a:pPr indent="0" marL="0">
              <a:buNone/>
            </a:pPr>
            <a:r>
              <a:rPr lang="en-US" sz="1200" dirty="0">
                <a:solidFill>
                  <a:srgbClr val="A89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RDOs</a:t>
            </a:r>
            <a:endParaRPr lang="en-US" sz="2300" dirty="0"/>
          </a:p>
        </p:txBody>
      </p:sp>
      <p:sp>
        <p:nvSpPr>
          <p:cNvPr id="16" name="Text 11"/>
          <p:cNvSpPr/>
          <p:nvPr/>
        </p:nvSpPr>
        <p:spPr>
          <a:xfrm>
            <a:off x="2834640" y="331012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A89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REGISTRADOS NOS ÚLTIMOS 7 DIAS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502920" y="3785616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89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AVANÇO ACUMULADO · ÚLTIMOS 30 DIAS</a:t>
            </a:r>
            <a:pPr indent="0" marL="0">
              <a:buNone/>
            </a:pPr>
            <a:r>
              <a:rPr lang="en-US" sz="950" b="1" spc="50" kern="0" dirty="0">
                <a:solidFill>
                  <a:srgbClr val="7FD9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de 37,3% para 47,2%</a:t>
            </a:r>
            <a:endParaRPr lang="en-US" sz="95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57200" y="4069080"/>
          <a:ext cx="745236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9" name="Shape 13"/>
          <p:cNvSpPr/>
          <p:nvPr/>
        </p:nvSpPr>
        <p:spPr>
          <a:xfrm>
            <a:off x="8138160" y="960120"/>
            <a:ext cx="0" cy="5394960"/>
          </a:xfrm>
          <a:prstGeom prst="line">
            <a:avLst/>
          </a:prstGeom>
          <a:noFill/>
          <a:ln w="12700">
            <a:solidFill>
              <a:srgbClr val="3A342B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8366760" y="914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26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b="1" spc="250" kern="0" dirty="0">
                <a:solidFill>
                  <a:srgbClr val="A89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 DA SEMANA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8366760" y="1261872"/>
            <a:ext cx="331927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E8E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Nesta semana a obra avançou </a:t>
            </a:r>
            <a:pPr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7FD9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+1,50 p.p.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E8E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com </a:t>
            </a:r>
            <a:pPr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Pav. Flexível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E8E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liderando o ritmo. Foram </a:t>
            </a:r>
            <a:pPr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 RDOs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E8E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 7 dias, com </a:t>
            </a:r>
            <a:pPr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de 8 frentes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E8E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 produção simultânea.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E8E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30 dias o acumulado ganhou 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7FD9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+9,92 p.p.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E8E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 melhor ritmo mensal do período — e o apontamento segue em dia, com o último lançamento em </a:t>
            </a:r>
            <a:pPr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01/08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E8E2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8366760" y="4069080"/>
            <a:ext cx="3319272" cy="2286000"/>
          </a:xfrm>
          <a:prstGeom prst="roundRect">
            <a:avLst>
              <a:gd name="adj" fmla="val 4000"/>
            </a:avLst>
          </a:prstGeom>
          <a:solidFill>
            <a:srgbClr val="2A2018"/>
          </a:solidFill>
          <a:ln w="12700">
            <a:solidFill>
              <a:srgbClr val="4A3526"/>
            </a:solidFill>
            <a:prstDash val="solid"/>
          </a:ln>
        </p:spPr>
      </p:sp>
      <p:pic>
        <p:nvPicPr>
          <p:cNvPr id="23" name="Image 3" descr="ic-zap-ac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0" y="4315968"/>
            <a:ext cx="237744" cy="23774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8942832" y="42976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091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 EXECUTIVA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8595360" y="4645152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0EA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Ritmo atual de 0,37 p.p./dia consolida o melhor mês do período. Manter pavimentação e vala técnica em produção contínua sustenta a curva de aceleração.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7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 da Semana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7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 do Painel Executivo · indicadores positivos · 03/08/2026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8321040" y="411480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7A7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TEOTÔNIO VILELA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342900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E4E0D8"/>
            </a:solidFill>
            <a:prstDash val="solid"/>
          </a:ln>
          <a:effectLst>
            <a:outerShdw sx="100000" sy="100000" kx="0" ky="0" algn="bl" rotWithShape="0" blurRad="114300" dist="25400" dir="5400000">
              <a:srgbClr val="8A8378">
                <a:alpha val="16000"/>
              </a:srgbClr>
            </a:outerShdw>
          </a:effectLst>
        </p:spPr>
      </p:sp>
      <p:pic>
        <p:nvPicPr>
          <p:cNvPr id="6" name="Image 0" descr="ic-layers-ac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65506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4712" y="166420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7A7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PACOTES EM EXECUÇÃO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740664" y="1965960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1A17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pPr indent="0" marL="0">
              <a:buNone/>
            </a:pPr>
            <a:r>
              <a:rPr lang="en-US" sz="1500" b="1" spc="-50" kern="0" dirty="0">
                <a:solidFill>
                  <a:srgbClr val="7A75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de 37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740664" y="2642616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pacotes concluídos · frente de trabalho ampla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79976" y="1417320"/>
            <a:ext cx="342900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E4E0D8"/>
            </a:solidFill>
            <a:prstDash val="solid"/>
          </a:ln>
          <a:effectLst>
            <a:outerShdw sx="100000" sy="100000" kx="0" ky="0" algn="bl" rotWithShape="0" blurRad="114300" dist="25400" dir="5400000">
              <a:srgbClr val="8A8378">
                <a:alpha val="16000"/>
              </a:srgbClr>
            </a:outerShdw>
          </a:effectLst>
        </p:spPr>
      </p:sp>
      <p:pic>
        <p:nvPicPr>
          <p:cNvPr id="11" name="Image 1" descr="ic-clipboard-ac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65506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001768" y="166420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7A7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RDOS REGISTRADOS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4617720" y="1965960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1A17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876</a:t>
            </a:r>
            <a:endParaRPr lang="en-US" sz="3800" dirty="0"/>
          </a:p>
        </p:txBody>
      </p:sp>
      <p:sp>
        <p:nvSpPr>
          <p:cNvPr id="14" name="Text 10"/>
          <p:cNvSpPr/>
          <p:nvPr/>
        </p:nvSpPr>
        <p:spPr>
          <a:xfrm>
            <a:off x="4617720" y="2642616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 nos últimos 7 dias · 263 em 30 dias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257032" y="1417320"/>
            <a:ext cx="342900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E4E0D8"/>
            </a:solidFill>
            <a:prstDash val="solid"/>
          </a:ln>
          <a:effectLst>
            <a:outerShdw sx="100000" sy="100000" kx="0" ky="0" algn="bl" rotWithShape="0" blurRad="114300" dist="25400" dir="5400000">
              <a:srgbClr val="8A8378">
                <a:alpha val="16000"/>
              </a:srgbClr>
            </a:outerShdw>
          </a:effectLst>
        </p:spPr>
      </p:sp>
      <p:pic>
        <p:nvPicPr>
          <p:cNvPr id="16" name="Image 2" descr="ic-trend-ac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4776" y="1655064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878824" y="166420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7A7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AVANÇO EM 30 DIAS</a:t>
            </a:r>
            <a:endParaRPr lang="en-US" sz="950" dirty="0"/>
          </a:p>
        </p:txBody>
      </p:sp>
      <p:sp>
        <p:nvSpPr>
          <p:cNvPr id="18" name="Text 13"/>
          <p:cNvSpPr/>
          <p:nvPr/>
        </p:nvSpPr>
        <p:spPr>
          <a:xfrm>
            <a:off x="8494776" y="1965960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3D8A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+9,92</a:t>
            </a:r>
            <a:pPr indent="0" marL="0">
              <a:buNone/>
            </a:pPr>
            <a:r>
              <a:rPr lang="en-US" sz="1500" b="1" spc="-50" kern="0" dirty="0">
                <a:solidFill>
                  <a:srgbClr val="7A75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p.p.</a:t>
            </a:r>
            <a:endParaRPr lang="en-US" sz="3800" dirty="0"/>
          </a:p>
        </p:txBody>
      </p:sp>
      <p:sp>
        <p:nvSpPr>
          <p:cNvPr id="19" name="Text 14"/>
          <p:cNvSpPr/>
          <p:nvPr/>
        </p:nvSpPr>
        <p:spPr>
          <a:xfrm>
            <a:off x="8494776" y="2642616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aceleração consistente do ritmo mensal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502920" y="3200400"/>
            <a:ext cx="342900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E4E0D8"/>
            </a:solidFill>
            <a:prstDash val="solid"/>
          </a:ln>
          <a:effectLst>
            <a:outerShdw sx="100000" sy="100000" kx="0" ky="0" algn="bl" rotWithShape="0" blurRad="114300" dist="25400" dir="5400000">
              <a:srgbClr val="8A8378">
                <a:alpha val="16000"/>
              </a:srgbClr>
            </a:outerShdw>
          </a:effectLst>
        </p:spPr>
      </p:sp>
      <p:pic>
        <p:nvPicPr>
          <p:cNvPr id="21" name="Image 3" descr="ic-activity-ac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3438144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24712" y="344728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7A7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FRENTES ATIVAS</a:t>
            </a:r>
            <a:endParaRPr lang="en-US" sz="950" dirty="0"/>
          </a:p>
        </p:txBody>
      </p:sp>
      <p:sp>
        <p:nvSpPr>
          <p:cNvPr id="23" name="Text 17"/>
          <p:cNvSpPr/>
          <p:nvPr/>
        </p:nvSpPr>
        <p:spPr>
          <a:xfrm>
            <a:off x="740664" y="3749040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1A17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indent="0" marL="0">
              <a:buNone/>
            </a:pPr>
            <a:r>
              <a:rPr lang="en-US" sz="1500" b="1" spc="-50" kern="0" dirty="0">
                <a:solidFill>
                  <a:srgbClr val="7A75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de 8</a:t>
            </a:r>
            <a:endParaRPr lang="en-US" sz="3800" dirty="0"/>
          </a:p>
        </p:txBody>
      </p:sp>
      <p:sp>
        <p:nvSpPr>
          <p:cNvPr id="24" name="Text 18"/>
          <p:cNvSpPr/>
          <p:nvPr/>
        </p:nvSpPr>
        <p:spPr>
          <a:xfrm>
            <a:off x="740664" y="4425696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lançamentos nos últimos 7 dias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4379976" y="3200400"/>
            <a:ext cx="342900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E4E0D8"/>
            </a:solidFill>
            <a:prstDash val="solid"/>
          </a:ln>
          <a:effectLst>
            <a:outerShdw sx="100000" sy="100000" kx="0" ky="0" algn="bl" rotWithShape="0" blurRad="114300" dist="25400" dir="5400000">
              <a:srgbClr val="8A8378">
                <a:alpha val="16000"/>
              </a:srgbClr>
            </a:outerShdw>
          </a:effectLst>
        </p:spPr>
      </p:sp>
      <p:pic>
        <p:nvPicPr>
          <p:cNvPr id="26" name="Image 4" descr="ic-zap-ac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3438144"/>
            <a:ext cx="274320" cy="27432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001768" y="344728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7A7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VELOCIDADE</a:t>
            </a:r>
            <a:endParaRPr lang="en-US" sz="950" dirty="0"/>
          </a:p>
        </p:txBody>
      </p:sp>
      <p:sp>
        <p:nvSpPr>
          <p:cNvPr id="28" name="Text 21"/>
          <p:cNvSpPr/>
          <p:nvPr/>
        </p:nvSpPr>
        <p:spPr>
          <a:xfrm>
            <a:off x="4617720" y="3749040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1A17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0,37</a:t>
            </a:r>
            <a:pPr indent="0" marL="0">
              <a:buNone/>
            </a:pPr>
            <a:r>
              <a:rPr lang="en-US" sz="1500" b="1" spc="-50" kern="0" dirty="0">
                <a:solidFill>
                  <a:srgbClr val="7A75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p.p./dia</a:t>
            </a:r>
            <a:endParaRPr lang="en-US" sz="3800" dirty="0"/>
          </a:p>
        </p:txBody>
      </p:sp>
      <p:sp>
        <p:nvSpPr>
          <p:cNvPr id="29" name="Text 22"/>
          <p:cNvSpPr/>
          <p:nvPr/>
        </p:nvSpPr>
        <p:spPr>
          <a:xfrm>
            <a:off x="4617720" y="4425696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média móvel de 14 dias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8257032" y="3200400"/>
            <a:ext cx="342900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E4E0D8"/>
            </a:solidFill>
            <a:prstDash val="solid"/>
          </a:ln>
          <a:effectLst>
            <a:outerShdw sx="100000" sy="100000" kx="0" ky="0" algn="bl" rotWithShape="0" blurRad="114300" dist="25400" dir="5400000">
              <a:srgbClr val="8A8378">
                <a:alpha val="16000"/>
              </a:srgbClr>
            </a:outerShdw>
          </a:effectLst>
        </p:spPr>
      </p:sp>
      <p:pic>
        <p:nvPicPr>
          <p:cNvPr id="31" name="Image 5" descr="ic-calendar-ac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4776" y="3438144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878824" y="344728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7A7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ÚLTIMO LANÇAMENTO</a:t>
            </a:r>
            <a:endParaRPr lang="en-US" sz="950" dirty="0"/>
          </a:p>
        </p:txBody>
      </p:sp>
      <p:sp>
        <p:nvSpPr>
          <p:cNvPr id="33" name="Text 25"/>
          <p:cNvSpPr/>
          <p:nvPr/>
        </p:nvSpPr>
        <p:spPr>
          <a:xfrm>
            <a:off x="8494776" y="3749040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50" kern="0" dirty="0">
                <a:solidFill>
                  <a:srgbClr val="1A17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01/08</a:t>
            </a:r>
            <a:endParaRPr lang="en-US" sz="3800" dirty="0"/>
          </a:p>
        </p:txBody>
      </p:sp>
      <p:sp>
        <p:nvSpPr>
          <p:cNvPr id="34" name="Text 26"/>
          <p:cNvSpPr/>
          <p:nvPr/>
        </p:nvSpPr>
        <p:spPr>
          <a:xfrm>
            <a:off x="8494776" y="4425696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apontamento em dia · há 2 dias</a:t>
            </a:r>
            <a:endParaRPr lang="en-US" sz="1050" dirty="0"/>
          </a:p>
        </p:txBody>
      </p:sp>
      <p:sp>
        <p:nvSpPr>
          <p:cNvPr id="35" name="Text 27"/>
          <p:cNvSpPr/>
          <p:nvPr/>
        </p:nvSpPr>
        <p:spPr>
          <a:xfrm>
            <a:off x="502920" y="5074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A7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FRENTES QUE MAIS AVANÇARAM · ÚLTIMOS 7 DIAS</a:t>
            </a:r>
            <a:endParaRPr lang="en-US" sz="1050" dirty="0"/>
          </a:p>
        </p:txBody>
      </p:sp>
      <p:sp>
        <p:nvSpPr>
          <p:cNvPr id="36" name="Shape 28"/>
          <p:cNvSpPr/>
          <p:nvPr/>
        </p:nvSpPr>
        <p:spPr>
          <a:xfrm>
            <a:off x="502920" y="5440680"/>
            <a:ext cx="342900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0D8"/>
            </a:solidFill>
            <a:prstDash val="solid"/>
          </a:ln>
          <a:effectLst>
            <a:outerShdw sx="100000" sy="100000" kx="0" ky="0" algn="bl" rotWithShape="0" blurRad="114300" dist="25400" dir="5400000">
              <a:srgbClr val="8A8378">
                <a:alpha val="16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722376" y="5724144"/>
            <a:ext cx="347472" cy="347472"/>
          </a:xfrm>
          <a:prstGeom prst="ellipse">
            <a:avLst/>
          </a:prstGeom>
          <a:solidFill>
            <a:srgbClr val="D2682F"/>
          </a:solidFill>
          <a:ln/>
        </p:spPr>
      </p:sp>
      <p:sp>
        <p:nvSpPr>
          <p:cNvPr id="38" name="Text 30"/>
          <p:cNvSpPr/>
          <p:nvPr/>
        </p:nvSpPr>
        <p:spPr>
          <a:xfrm>
            <a:off x="722376" y="57241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9" name="Text 31"/>
          <p:cNvSpPr/>
          <p:nvPr/>
        </p:nvSpPr>
        <p:spPr>
          <a:xfrm>
            <a:off x="1216152" y="562356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Pav. Flexível</a:t>
            </a:r>
            <a:endParaRPr lang="en-US" sz="1300" dirty="0"/>
          </a:p>
        </p:txBody>
      </p:sp>
      <p:sp>
        <p:nvSpPr>
          <p:cNvPr id="40" name="Text 32"/>
          <p:cNvSpPr/>
          <p:nvPr/>
        </p:nvSpPr>
        <p:spPr>
          <a:xfrm>
            <a:off x="1216152" y="5916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7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última atividade 31/07</a:t>
            </a:r>
            <a:endParaRPr lang="en-US" sz="950" dirty="0"/>
          </a:p>
        </p:txBody>
      </p:sp>
      <p:sp>
        <p:nvSpPr>
          <p:cNvPr id="41" name="Text 33"/>
          <p:cNvSpPr/>
          <p:nvPr/>
        </p:nvSpPr>
        <p:spPr>
          <a:xfrm>
            <a:off x="2697480" y="572414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D8A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+1,41 p.p.</a:t>
            </a:r>
            <a:endParaRPr lang="en-US" sz="1400" dirty="0"/>
          </a:p>
        </p:txBody>
      </p:sp>
      <p:sp>
        <p:nvSpPr>
          <p:cNvPr id="42" name="Shape 34"/>
          <p:cNvSpPr/>
          <p:nvPr/>
        </p:nvSpPr>
        <p:spPr>
          <a:xfrm>
            <a:off x="4379976" y="5440680"/>
            <a:ext cx="342900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0D8"/>
            </a:solidFill>
            <a:prstDash val="solid"/>
          </a:ln>
          <a:effectLst>
            <a:outerShdw sx="100000" sy="100000" kx="0" ky="0" algn="bl" rotWithShape="0" blurRad="114300" dist="25400" dir="5400000">
              <a:srgbClr val="8A8378">
                <a:alpha val="16000"/>
              </a:srgbClr>
            </a:outerShdw>
          </a:effectLst>
        </p:spPr>
      </p:sp>
      <p:sp>
        <p:nvSpPr>
          <p:cNvPr id="43" name="Shape 35"/>
          <p:cNvSpPr/>
          <p:nvPr/>
        </p:nvSpPr>
        <p:spPr>
          <a:xfrm>
            <a:off x="4599432" y="5724144"/>
            <a:ext cx="347472" cy="347472"/>
          </a:xfrm>
          <a:prstGeom prst="ellipse">
            <a:avLst/>
          </a:prstGeom>
          <a:solidFill>
            <a:srgbClr val="D2682F"/>
          </a:solidFill>
          <a:ln/>
        </p:spPr>
      </p:sp>
      <p:sp>
        <p:nvSpPr>
          <p:cNvPr id="44" name="Text 36"/>
          <p:cNvSpPr/>
          <p:nvPr/>
        </p:nvSpPr>
        <p:spPr>
          <a:xfrm>
            <a:off x="4599432" y="57241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45" name="Text 37"/>
          <p:cNvSpPr/>
          <p:nvPr/>
        </p:nvSpPr>
        <p:spPr>
          <a:xfrm>
            <a:off x="5093208" y="562356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</a:t>
            </a:r>
            <a:endParaRPr lang="en-US" sz="1300" dirty="0"/>
          </a:p>
        </p:txBody>
      </p:sp>
      <p:sp>
        <p:nvSpPr>
          <p:cNvPr id="46" name="Text 38"/>
          <p:cNvSpPr/>
          <p:nvPr/>
        </p:nvSpPr>
        <p:spPr>
          <a:xfrm>
            <a:off x="5093208" y="5916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7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última atividade 01/08</a:t>
            </a:r>
            <a:endParaRPr lang="en-US" sz="950" dirty="0"/>
          </a:p>
        </p:txBody>
      </p:sp>
      <p:sp>
        <p:nvSpPr>
          <p:cNvPr id="47" name="Text 39"/>
          <p:cNvSpPr/>
          <p:nvPr/>
        </p:nvSpPr>
        <p:spPr>
          <a:xfrm>
            <a:off x="6574536" y="572414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D8A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+0,59 p.p.</a:t>
            </a:r>
            <a:endParaRPr lang="en-US" sz="1400" dirty="0"/>
          </a:p>
        </p:txBody>
      </p:sp>
      <p:sp>
        <p:nvSpPr>
          <p:cNvPr id="48" name="Shape 40"/>
          <p:cNvSpPr/>
          <p:nvPr/>
        </p:nvSpPr>
        <p:spPr>
          <a:xfrm>
            <a:off x="8257032" y="5440680"/>
            <a:ext cx="342900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0D8"/>
            </a:solidFill>
            <a:prstDash val="solid"/>
          </a:ln>
          <a:effectLst>
            <a:outerShdw sx="100000" sy="100000" kx="0" ky="0" algn="bl" rotWithShape="0" blurRad="114300" dist="25400" dir="5400000">
              <a:srgbClr val="8A8378">
                <a:alpha val="16000"/>
              </a:srgbClr>
            </a:outerShdw>
          </a:effectLst>
        </p:spPr>
      </p:sp>
      <p:sp>
        <p:nvSpPr>
          <p:cNvPr id="49" name="Shape 41"/>
          <p:cNvSpPr/>
          <p:nvPr/>
        </p:nvSpPr>
        <p:spPr>
          <a:xfrm>
            <a:off x="8476488" y="5724144"/>
            <a:ext cx="347472" cy="347472"/>
          </a:xfrm>
          <a:prstGeom prst="ellipse">
            <a:avLst/>
          </a:prstGeom>
          <a:solidFill>
            <a:srgbClr val="D2682F"/>
          </a:solidFill>
          <a:ln/>
        </p:spPr>
      </p:sp>
      <p:sp>
        <p:nvSpPr>
          <p:cNvPr id="50" name="Text 42"/>
          <p:cNvSpPr/>
          <p:nvPr/>
        </p:nvSpPr>
        <p:spPr>
          <a:xfrm>
            <a:off x="8476488" y="57241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51" name="Text 43"/>
          <p:cNvSpPr/>
          <p:nvPr/>
        </p:nvSpPr>
        <p:spPr>
          <a:xfrm>
            <a:off x="8970264" y="562356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7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Demolição</a:t>
            </a:r>
            <a:endParaRPr lang="en-US" sz="1300" dirty="0"/>
          </a:p>
        </p:txBody>
      </p:sp>
      <p:sp>
        <p:nvSpPr>
          <p:cNvPr id="52" name="Text 44"/>
          <p:cNvSpPr/>
          <p:nvPr/>
        </p:nvSpPr>
        <p:spPr>
          <a:xfrm>
            <a:off x="8970264" y="591616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A75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última atividade 30/07</a:t>
            </a:r>
            <a:endParaRPr lang="en-US" sz="950" dirty="0"/>
          </a:p>
        </p:txBody>
      </p:sp>
      <p:sp>
        <p:nvSpPr>
          <p:cNvPr id="53" name="Text 45"/>
          <p:cNvSpPr/>
          <p:nvPr/>
        </p:nvSpPr>
        <p:spPr>
          <a:xfrm>
            <a:off x="10451592" y="572414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D8A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+0,47 p.p.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op-e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411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Avanço Físico por Frente</a:t>
            </a:r>
            <a:endParaRPr lang="en-US" sz="2700" dirty="0"/>
          </a:p>
        </p:txBody>
      </p:sp>
      <p:sp>
        <p:nvSpPr>
          <p:cNvPr id="4" name="Text 1"/>
          <p:cNvSpPr/>
          <p:nvPr/>
        </p:nvSpPr>
        <p:spPr>
          <a:xfrm>
            <a:off x="502920" y="85953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9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Frentes em evolução · avanço ponderado em dias-equivalentes · 03/08/2026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8778240" y="41148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A89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EXECUTIVO</a:t>
            </a:r>
            <a:endParaRPr lang="en-US" sz="9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11480" y="1417320"/>
          <a:ext cx="7040880" cy="4709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Shape 3"/>
          <p:cNvSpPr/>
          <p:nvPr/>
        </p:nvSpPr>
        <p:spPr>
          <a:xfrm>
            <a:off x="7818120" y="1417320"/>
            <a:ext cx="3886200" cy="4709160"/>
          </a:xfrm>
          <a:prstGeom prst="roundRect">
            <a:avLst>
              <a:gd name="adj" fmla="val 2353"/>
            </a:avLst>
          </a:prstGeom>
          <a:solidFill>
            <a:srgbClr val="211D17"/>
          </a:solidFill>
          <a:ln w="12700">
            <a:solidFill>
              <a:srgbClr val="383026"/>
            </a:solidFill>
            <a:prstDash val="solid"/>
          </a:ln>
        </p:spPr>
      </p:sp>
      <p:pic>
        <p:nvPicPr>
          <p:cNvPr id="8" name="Image 1" descr="ic-aw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5864" y="1655064"/>
            <a:ext cx="256032" cy="25603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421624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A89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PACOTES NO TOPO</a:t>
            </a:r>
            <a:endParaRPr lang="en-US" sz="1000" dirty="0"/>
          </a:p>
        </p:txBody>
      </p:sp>
      <p:pic>
        <p:nvPicPr>
          <p:cNvPr id="10" name="Image 2" descr="ic-check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5864" y="2258568"/>
            <a:ext cx="219456" cy="219456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8385048" y="21579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Piso podotátil</a:t>
            </a: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8385048" y="243230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9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</a:t>
            </a:r>
            <a:endParaRPr lang="en-US" sz="900" dirty="0"/>
          </a:p>
        </p:txBody>
      </p:sp>
      <p:sp>
        <p:nvSpPr>
          <p:cNvPr id="13" name="Text 7"/>
          <p:cNvSpPr/>
          <p:nvPr/>
        </p:nvSpPr>
        <p:spPr>
          <a:xfrm>
            <a:off x="10652760" y="2221992"/>
            <a:ext cx="841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7FD9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</a:t>
            </a:r>
            <a:endParaRPr lang="en-US" sz="1350" dirty="0"/>
          </a:p>
        </p:txBody>
      </p:sp>
      <p:sp>
        <p:nvSpPr>
          <p:cNvPr id="14" name="Shape 8"/>
          <p:cNvSpPr/>
          <p:nvPr/>
        </p:nvSpPr>
        <p:spPr>
          <a:xfrm>
            <a:off x="8055864" y="2738628"/>
            <a:ext cx="3410712" cy="0"/>
          </a:xfrm>
          <a:prstGeom prst="line">
            <a:avLst/>
          </a:prstGeom>
          <a:noFill/>
          <a:ln w="9525">
            <a:solidFill>
              <a:srgbClr val="2E2820"/>
            </a:solidFill>
            <a:prstDash val="solid"/>
          </a:ln>
        </p:spPr>
      </p:sp>
      <p:pic>
        <p:nvPicPr>
          <p:cNvPr id="15" name="Image 3" descr="ic-check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5864" y="2907792"/>
            <a:ext cx="219456" cy="219456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385048" y="28072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Rachão</a:t>
            </a:r>
            <a:endParaRPr lang="en-US" sz="1200" dirty="0"/>
          </a:p>
        </p:txBody>
      </p:sp>
      <p:sp>
        <p:nvSpPr>
          <p:cNvPr id="17" name="Text 10"/>
          <p:cNvSpPr/>
          <p:nvPr/>
        </p:nvSpPr>
        <p:spPr>
          <a:xfrm>
            <a:off x="8385048" y="308152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9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Pav. Flexível</a:t>
            </a:r>
            <a:endParaRPr lang="en-US" sz="900" dirty="0"/>
          </a:p>
        </p:txBody>
      </p:sp>
      <p:sp>
        <p:nvSpPr>
          <p:cNvPr id="18" name="Text 11"/>
          <p:cNvSpPr/>
          <p:nvPr/>
        </p:nvSpPr>
        <p:spPr>
          <a:xfrm>
            <a:off x="10652760" y="2871216"/>
            <a:ext cx="841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7FD9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</a:t>
            </a:r>
            <a:endParaRPr lang="en-US" sz="1350" dirty="0"/>
          </a:p>
        </p:txBody>
      </p:sp>
      <p:sp>
        <p:nvSpPr>
          <p:cNvPr id="19" name="Shape 12"/>
          <p:cNvSpPr/>
          <p:nvPr/>
        </p:nvSpPr>
        <p:spPr>
          <a:xfrm>
            <a:off x="8055864" y="3387852"/>
            <a:ext cx="3410712" cy="0"/>
          </a:xfrm>
          <a:prstGeom prst="line">
            <a:avLst/>
          </a:prstGeom>
          <a:noFill/>
          <a:ln w="9525">
            <a:solidFill>
              <a:srgbClr val="2E2820"/>
            </a:solidFill>
            <a:prstDash val="solid"/>
          </a:ln>
        </p:spPr>
      </p:sp>
      <p:pic>
        <p:nvPicPr>
          <p:cNvPr id="20" name="Image 4" descr="ic-check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55864" y="3557016"/>
            <a:ext cx="219456" cy="21945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8385048" y="3456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Galeria</a:t>
            </a:r>
            <a:endParaRPr lang="en-US" sz="1200" dirty="0"/>
          </a:p>
        </p:txBody>
      </p:sp>
      <p:sp>
        <p:nvSpPr>
          <p:cNvPr id="22" name="Text 14"/>
          <p:cNvSpPr/>
          <p:nvPr/>
        </p:nvSpPr>
        <p:spPr>
          <a:xfrm>
            <a:off x="8385048" y="37307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9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Drenagem</a:t>
            </a:r>
            <a:endParaRPr lang="en-US" sz="900" dirty="0"/>
          </a:p>
        </p:txBody>
      </p:sp>
      <p:sp>
        <p:nvSpPr>
          <p:cNvPr id="23" name="Text 15"/>
          <p:cNvSpPr/>
          <p:nvPr/>
        </p:nvSpPr>
        <p:spPr>
          <a:xfrm>
            <a:off x="10652760" y="3520440"/>
            <a:ext cx="841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7FD9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</a:t>
            </a:r>
            <a:endParaRPr lang="en-US" sz="1350" dirty="0"/>
          </a:p>
        </p:txBody>
      </p:sp>
      <p:sp>
        <p:nvSpPr>
          <p:cNvPr id="24" name="Shape 16"/>
          <p:cNvSpPr/>
          <p:nvPr/>
        </p:nvSpPr>
        <p:spPr>
          <a:xfrm>
            <a:off x="8055864" y="4037076"/>
            <a:ext cx="3410712" cy="0"/>
          </a:xfrm>
          <a:prstGeom prst="line">
            <a:avLst/>
          </a:prstGeom>
          <a:noFill/>
          <a:ln w="9525">
            <a:solidFill>
              <a:srgbClr val="2E2820"/>
            </a:solidFill>
            <a:prstDash val="solid"/>
          </a:ln>
        </p:spPr>
      </p:sp>
      <p:sp>
        <p:nvSpPr>
          <p:cNvPr id="25" name="Text 17"/>
          <p:cNvSpPr/>
          <p:nvPr/>
        </p:nvSpPr>
        <p:spPr>
          <a:xfrm>
            <a:off x="8385048" y="41056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Tubo Ø1000mm</a:t>
            </a:r>
            <a:endParaRPr lang="en-US" sz="1200" dirty="0"/>
          </a:p>
        </p:txBody>
      </p:sp>
      <p:sp>
        <p:nvSpPr>
          <p:cNvPr id="26" name="Text 18"/>
          <p:cNvSpPr/>
          <p:nvPr/>
        </p:nvSpPr>
        <p:spPr>
          <a:xfrm>
            <a:off x="8385048" y="43799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9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Drenagem</a:t>
            </a:r>
            <a:endParaRPr lang="en-US" sz="900" dirty="0"/>
          </a:p>
        </p:txBody>
      </p:sp>
      <p:sp>
        <p:nvSpPr>
          <p:cNvPr id="27" name="Text 19"/>
          <p:cNvSpPr/>
          <p:nvPr/>
        </p:nvSpPr>
        <p:spPr>
          <a:xfrm>
            <a:off x="10652760" y="4169664"/>
            <a:ext cx="841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0EA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99,7%</a:t>
            </a:r>
            <a:endParaRPr lang="en-US" sz="1350" dirty="0"/>
          </a:p>
        </p:txBody>
      </p:sp>
      <p:sp>
        <p:nvSpPr>
          <p:cNvPr id="28" name="Shape 20"/>
          <p:cNvSpPr/>
          <p:nvPr/>
        </p:nvSpPr>
        <p:spPr>
          <a:xfrm>
            <a:off x="8055864" y="4686300"/>
            <a:ext cx="3410712" cy="0"/>
          </a:xfrm>
          <a:prstGeom prst="line">
            <a:avLst/>
          </a:prstGeom>
          <a:noFill/>
          <a:ln w="9525">
            <a:solidFill>
              <a:srgbClr val="2E2820"/>
            </a:solidFill>
            <a:prstDash val="solid"/>
          </a:ln>
        </p:spPr>
      </p:sp>
      <p:sp>
        <p:nvSpPr>
          <p:cNvPr id="29" name="Text 21"/>
          <p:cNvSpPr/>
          <p:nvPr/>
        </p:nvSpPr>
        <p:spPr>
          <a:xfrm>
            <a:off x="8385048" y="47548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Reconstrução de muros</a:t>
            </a:r>
            <a:endParaRPr lang="en-US" sz="1200" dirty="0"/>
          </a:p>
        </p:txBody>
      </p:sp>
      <p:sp>
        <p:nvSpPr>
          <p:cNvPr id="30" name="Text 22"/>
          <p:cNvSpPr/>
          <p:nvPr/>
        </p:nvSpPr>
        <p:spPr>
          <a:xfrm>
            <a:off x="8385048" y="502920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9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Desapropriações</a:t>
            </a:r>
            <a:endParaRPr lang="en-US" sz="900" dirty="0"/>
          </a:p>
        </p:txBody>
      </p:sp>
      <p:sp>
        <p:nvSpPr>
          <p:cNvPr id="31" name="Text 23"/>
          <p:cNvSpPr/>
          <p:nvPr/>
        </p:nvSpPr>
        <p:spPr>
          <a:xfrm>
            <a:off x="10652760" y="4818888"/>
            <a:ext cx="841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0EA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91,8%</a:t>
            </a:r>
            <a:endParaRPr lang="en-US" sz="1350" dirty="0"/>
          </a:p>
        </p:txBody>
      </p:sp>
      <p:sp>
        <p:nvSpPr>
          <p:cNvPr id="32" name="Shape 24"/>
          <p:cNvSpPr/>
          <p:nvPr/>
        </p:nvSpPr>
        <p:spPr>
          <a:xfrm>
            <a:off x="8055864" y="5335524"/>
            <a:ext cx="3410712" cy="0"/>
          </a:xfrm>
          <a:prstGeom prst="line">
            <a:avLst/>
          </a:prstGeom>
          <a:noFill/>
          <a:ln w="9525">
            <a:solidFill>
              <a:srgbClr val="2E2820"/>
            </a:solidFill>
            <a:prstDash val="solid"/>
          </a:ln>
        </p:spPr>
      </p:sp>
      <p:sp>
        <p:nvSpPr>
          <p:cNvPr id="33" name="Text 25"/>
          <p:cNvSpPr/>
          <p:nvPr/>
        </p:nvSpPr>
        <p:spPr>
          <a:xfrm>
            <a:off x="8385048" y="540410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Tubo Ø600mm</a:t>
            </a:r>
            <a:endParaRPr lang="en-US" sz="1200" dirty="0"/>
          </a:p>
        </p:txBody>
      </p:sp>
      <p:sp>
        <p:nvSpPr>
          <p:cNvPr id="34" name="Text 26"/>
          <p:cNvSpPr/>
          <p:nvPr/>
        </p:nvSpPr>
        <p:spPr>
          <a:xfrm>
            <a:off x="8385048" y="5678424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9F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Drenagem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0652760" y="5468112"/>
            <a:ext cx="841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F0EA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82,8%</a:t>
            </a:r>
            <a:endParaRPr lang="en-US" sz="1350" dirty="0"/>
          </a:p>
        </p:txBody>
      </p:sp>
      <p:sp>
        <p:nvSpPr>
          <p:cNvPr id="36" name="Text 28"/>
          <p:cNvSpPr/>
          <p:nvPr/>
        </p:nvSpPr>
        <p:spPr>
          <a:xfrm>
            <a:off x="502920" y="64739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Fonte: Sistema Teotônio Vilela · Painel Executivo · resumo com indicadores positivos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2026-08-03T13:31:14Z</dcterms:created>
  <dcterms:modified xsi:type="dcterms:W3CDTF">2026-08-03T13:31:14Z</dcterms:modified>
</cp:coreProperties>
</file>